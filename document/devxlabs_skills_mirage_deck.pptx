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4F0741-EC07-4CE6-A22C-5F04CE15188C}">
  <a:tblStyle styleId="{D04F0741-EC07-4CE6-A22C-5F04CE15188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 labs  ·  </a:t>
            </a:r>
            <a:r>
              <a:rPr b="1" lang="en-US" sz="11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HACKaMINeD</a:t>
            </a:r>
            <a:r>
              <a:rPr b="1" i="0" lang="en-US" sz="11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20040" y="5943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Problem Statement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" y="960120"/>
            <a:ext cx="8503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Skills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Mirage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20040" y="28346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Build India's first open workforce intelligence system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20040" y="329185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From market signals to reskilling paths -  India's 50 crore workers need this.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0040" y="451713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devxlabs.ai  ·  </a:t>
            </a:r>
            <a:r>
              <a:rPr lang="en-US" sz="10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abhishek.rawal</a:t>
            </a: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@devxlabs.ai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274320" y="4818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devx labs  ·  Hackathon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315200" y="4818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devxlabs.ai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Sides of a Crisis. Zero Connection.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111556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India posts 1 crore job listings/month. 45%+ employers still can't find the right skills.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1572768"/>
            <a:ext cx="3657600" cy="269748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02920" y="1572768"/>
            <a:ext cx="3657600" cy="402336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18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978408" y="1636776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DEMAND SIDE — Enterprises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2029968"/>
            <a:ext cx="3401568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Companies hire GenAI engineers, fire call-centre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Signal exists in job postings </a:t>
            </a:r>
            <a:r>
              <a:rPr lang="en-US" sz="110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nobody reads it at sector scale for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Hiring patterns reveal strategy 6 months before press releases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No open India-specific market intelligence exists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983480" y="1572768"/>
            <a:ext cx="3657600" cy="269748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983480" y="1572768"/>
            <a:ext cx="3657600" cy="40233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1618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5458968" y="1636776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SUPPLY SIDE 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Workers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120640" y="2029968"/>
            <a:ext cx="3401568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38-yr BPO lead in Pune gets a generic 'learn Python' suggestion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Job title tells nothing about actual skills or aspirations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Most tools ignore geography and local job supply entirely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8%+ graduate unemployment even in high-hiring cities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224528" y="2697480"/>
            <a:ext cx="694944" cy="329184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224528" y="2697480"/>
            <a:ext cx="694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274320" y="4818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devx labs  ·  Hackathon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7315200" y="4818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devxlabs.ai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SCALE OF 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Numbers Behind the Crisis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" y="1508760"/>
            <a:ext cx="2606040" cy="10515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02920" y="1508760"/>
            <a:ext cx="4572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30936" y="158191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r>
              <a:rPr b="1" i="0" lang="en-US" sz="3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 Cr+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30936" y="216712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job listings posted in India every month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337560" y="1508760"/>
            <a:ext cx="2606040" cy="10515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337560" y="1508760"/>
            <a:ext cx="4572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3465576" y="158191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45%+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465576" y="216712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employers cannot find candidates with right skills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035040" y="1508760"/>
            <a:ext cx="2606040" cy="10515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035040" y="1508760"/>
            <a:ext cx="4572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163056" y="158191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8%+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163056" y="216712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graduate unemployment in high-hiring cities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02920" y="2788920"/>
            <a:ext cx="2606040" cy="10515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2788920"/>
            <a:ext cx="4572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30936" y="286207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3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 Cr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30936" y="344728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Indian workers in formal + informal workforce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337560" y="2788920"/>
            <a:ext cx="2606040" cy="10515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337560" y="2788920"/>
            <a:ext cx="4572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465576" y="286207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₹0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465576" y="344728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cost to build </a:t>
            </a:r>
            <a:r>
              <a:rPr lang="en-US" sz="105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0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all data sources are public &amp; free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035040" y="2788920"/>
            <a:ext cx="2606040" cy="10515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035040" y="2788920"/>
            <a:ext cx="4572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163056" y="286207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48 hrs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163056" y="344728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to build something that outlasts this hackathon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02920" y="402336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Two Layers. One Live System.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02920" y="9784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Layer 1 feeds real-time signals into Layer 2. A change in one must propagate to the other automatically.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274320" y="4818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devx labs  ·  Hackathon 2026  · 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7315200" y="4818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devxlabs.ai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02920" y="1463040"/>
            <a:ext cx="3611880" cy="2834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502920" y="1463040"/>
            <a:ext cx="3611880" cy="43891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2704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1005840" y="15361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1 </a:t>
            </a: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Job Market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40080" y="1965960"/>
            <a:ext cx="333756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Live scraping</a:t>
            </a: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+ Open source data</a:t>
            </a: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: Naukri + LinkedIn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Tab A: Hiring trends by city/sector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Tab B: Skills demand + gap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Tab C: AI Vulnerability Index (0–100)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Displacement early warning signals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178808" y="2724912"/>
            <a:ext cx="786384" cy="329184"/>
          </a:xfrm>
          <a:prstGeom prst="rect">
            <a:avLst/>
          </a:prstGeom>
          <a:solidFill>
            <a:srgbClr val="E0F7F4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178808" y="2724912"/>
            <a:ext cx="7863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 feeds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029200" y="1463040"/>
            <a:ext cx="3611880" cy="2834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5029200" y="1463040"/>
            <a:ext cx="3611880" cy="43891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52704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5532120" y="15361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2 </a:t>
            </a: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Worker Intelligence Engine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166360" y="1965960"/>
            <a:ext cx="333756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Worker profile: title + city + XP + write-up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Personal AI Risk Score (0–100)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Week-by-week reskilling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AI Chatbot: English + Hindi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Free resources: SWAYAM, NPTEL + global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274320" y="4818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devx labs  ·  Hackathon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315200" y="4818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devxlabs.ai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LAYER 1 — DASHBOARD REQUIREMENTS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Tabs. All Live. All Data-Derived.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02920" y="111556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Real scraping from Naukri + LinkedIn. Must refresh live during demo. No static CSVs.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02920" y="1572768"/>
            <a:ext cx="2578608" cy="2743200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502920" y="1572768"/>
            <a:ext cx="45720" cy="274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40080" y="166420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Tab A </a:t>
            </a:r>
            <a:r>
              <a:rPr b="1" lang="en-US" sz="105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0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 Hiring Trends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40080" y="1956816"/>
            <a:ext cx="237744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Volume trends by job category, city, sector.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Time range: 7d / 30d / 90d / 1yr.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Min 20 cities </a:t>
            </a:r>
            <a:r>
              <a:rPr lang="en-US" sz="100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Tier 2 + Tier 3 required.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291840" y="1572768"/>
            <a:ext cx="2578608" cy="2743200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3291840" y="1572768"/>
            <a:ext cx="45720" cy="274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3429000" y="166420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Tab B </a:t>
            </a:r>
            <a:r>
              <a:rPr b="1" lang="en-US" sz="105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0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 Skills Intelligence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429000" y="1956816"/>
            <a:ext cx="237744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Top 20 rising + declining skills (week-over-week).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Skill gap map: what's being hired vs what PMKVY/SWAYAM, trains for.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053328" y="1572768"/>
            <a:ext cx="2587752" cy="2743200"/>
          </a:xfrm>
          <a:prstGeom prst="rect">
            <a:avLst/>
          </a:prstGeom>
          <a:solidFill>
            <a:srgbClr val="1F2937"/>
          </a:solidFill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053328" y="1572768"/>
            <a:ext cx="45720" cy="2743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6459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6473952" y="1664208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Tab C </a:t>
            </a:r>
            <a:r>
              <a:rPr b="1" lang="en-US" sz="10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AI Vulnerability Index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172200" y="1965960"/>
            <a:ext cx="2359152" cy="2231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Score every job 0–100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Signals: hiring decline + AI tool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mentions in JDs + role replacement ratio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Heatmap view by 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Trend: rising or falling risk?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Methodology panel </a:t>
            </a:r>
            <a:r>
              <a:rPr lang="en-US" sz="100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visible,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no black boxes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40080" y="4370832"/>
            <a:ext cx="7863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Example: BPO Voice — Pune: 87/100 Critical  ·  Data Entry </a:t>
            </a:r>
            <a:r>
              <a:rPr i="1" lang="en-US" sz="95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1" lang="en-US" sz="9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Jaipur: 74/100 High  ·  Data Analyst (AI Tools): 18/100 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LAYER 2 </a:t>
            </a:r>
            <a:r>
              <a:rPr b="1" lang="en-US" sz="9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 WORKER 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02920" y="402336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the Worker Tells You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02920" y="9784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 CV. No long forms. Four inputs </a:t>
            </a: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and the system does the heavy lifting.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274320" y="4818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devx labs  ·  Hackathon 2026  ·  Worker 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315200" y="4818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devxlabs.ai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02920" y="1463040"/>
            <a:ext cx="2487168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02920" y="1463040"/>
            <a:ext cx="45720" cy="914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640080" y="155448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1. Current Job Title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40080" y="1847088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E.g. Senior Executive, BPO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Free text </a:t>
            </a:r>
            <a:r>
              <a:rPr lang="en-US" sz="10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NLP normalises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145536" y="1463040"/>
            <a:ext cx="2487168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145536" y="1463040"/>
            <a:ext cx="45720" cy="914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3282696" y="155448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2. City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282696" y="1847088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Tier 2 + Tier 3 fully supported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Min 20 cities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788152" y="1463040"/>
            <a:ext cx="2487168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5788152" y="1463040"/>
            <a:ext cx="45720" cy="914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5925312" y="155448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3. Years of Experience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925312" y="1847088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Integer or short 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Weighted in risk scoring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02920" y="2514600"/>
            <a:ext cx="8138160" cy="1691640"/>
          </a:xfrm>
          <a:prstGeom prst="rect">
            <a:avLst/>
          </a:prstGeom>
          <a:solidFill>
            <a:srgbClr val="FFF7ED"/>
          </a:solidFill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502920" y="2514600"/>
            <a:ext cx="45720" cy="169164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5786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987552" y="2587752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4. Short Write-Up (100–200 words) </a:t>
            </a:r>
            <a:r>
              <a:rPr b="1" lang="en-US" sz="115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15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 The Most Important Input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85800" y="2944368"/>
            <a:ext cx="78638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What they do day-to-day. What they are good at. What work they want to move toward.</a:t>
            </a:r>
            <a:br>
              <a:rPr b="0" i="0" lang="en-US" sz="10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Why it matters: </a:t>
            </a:r>
            <a:r>
              <a:rPr b="0" i="0" lang="en-US" sz="10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Two 'Senior Executives' can have completely different skills. The write-up extracts implicit skills, tools, soft skills, and aspirations no job title reveals. Your NLP must demonstrably use this input </a:t>
            </a:r>
            <a:r>
              <a:rPr lang="en-US" sz="10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0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 if the write-up is ignored, it counts as not implemented.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274320" y="4818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devx labs  ·  Hackathon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7315200" y="4818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devxlabs.ai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LAYER 2 — OUTPUTS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Score → Reskilling Path → Chatbot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02920" y="111556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Three connected outputs from one worker profile.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02920" y="1417320"/>
            <a:ext cx="2578608" cy="2971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502920" y="1417320"/>
            <a:ext cx="2578608" cy="402336"/>
          </a:xfrm>
          <a:prstGeom prst="rect">
            <a:avLst/>
          </a:prstGeom>
          <a:solidFill>
            <a:srgbClr val="78350F"/>
          </a:solidFill>
          <a:ln cap="flat" cmpd="sng" w="12700">
            <a:solidFill>
              <a:srgbClr val="783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72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/>
          <p:nvPr/>
        </p:nvSpPr>
        <p:spPr>
          <a:xfrm>
            <a:off x="950976" y="149047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AI Risk 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40080" y="187452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74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691640" y="24231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/ 100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40080" y="27889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HIGH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40080" y="3090672"/>
            <a:ext cx="235915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↑ +8 vs 30 days ago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BPO voice hiring -34% in Pune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AI tool mentions in JDs +40%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vs peers: top 15% at-risk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246120" y="1417320"/>
            <a:ext cx="2697480" cy="2971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3246120" y="1417320"/>
            <a:ext cx="2697480" cy="402336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472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3694176" y="1490472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Reskilling Path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3383280" y="1901952"/>
            <a:ext cx="24505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→ AI Content Reviewer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(Hiring in Pune </a:t>
            </a:r>
            <a:r>
              <a:rPr i="1" lang="en-US" sz="10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1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 L1 verified)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383280" y="2423160"/>
            <a:ext cx="245059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Wk 1–3: NPTEL Data Basics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(IIT Madras, free, 6 hrs/wk)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Wk 4–5: SWAYAM AI Fundamentals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Wk 6–8: PMKVY Digital Mktg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(Nagpur centre, Wardha Rd)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Total: 8 weeks @ 10 hrs/wk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080760" y="1417320"/>
            <a:ext cx="2560320" cy="2971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6080760" y="1417320"/>
            <a:ext cx="2560320" cy="402336"/>
          </a:xfrm>
          <a:prstGeom prst="rect">
            <a:avLst/>
          </a:prstGeom>
          <a:solidFill>
            <a:srgbClr val="4C1D95"/>
          </a:solidFill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1472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6528816" y="1490472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AI Chatbot (EN + HI)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217920" y="190195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Context-aware, not canned.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Must handle 5 question types: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217920" y="2359152"/>
            <a:ext cx="2331720" cy="1901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Why is my risk score high?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Show paths under 4 months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How many BPO jobs in Indore?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Is this NPTEL cert recognised?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मुझे कहाँ से शुरू करना चाहिए?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02920" y="402336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Sample </a:t>
            </a:r>
            <a:r>
              <a:rPr b="1" i="0" lang="en-US" sz="2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Datasets </a:t>
            </a:r>
            <a:r>
              <a:rPr b="1" lang="en-US" sz="2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All </a:t>
            </a:r>
            <a:r>
              <a:rPr b="1" lang="en-US" sz="28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274320" y="4818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devx labs  ·  Hackathon 2026  ·  Dataset Reference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7315200" y="4818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devxlabs.ai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10"/>
          <p:cNvGraphicFramePr/>
          <p:nvPr/>
        </p:nvGraphicFramePr>
        <p:xfrm>
          <a:off x="5029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{D04F0741-EC07-4CE6-A22C-5F04CE15188C}</a:tableStyleId>
              </a:tblPr>
              <a:tblGrid>
                <a:gridCol w="1737350"/>
                <a:gridCol w="2834650"/>
                <a:gridCol w="23774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Contains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 to Get It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PLFS Microdata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 lakh individual records/yr 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employment, sector, 2017–2024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microdata.gov.in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PMKVY Training Data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State/district trained, certified, placed 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2015–2024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data.gov.in → search 'PMKVY'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Naukri (Kaggle)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 lakh records: job title, skills, city, salary (2019)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kaggle.com → 'naukri job postings india'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Naukri Live Scrape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listings 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Apify actor or Python BeautifulSoup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apify.com → Naukri scrapers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LinkedIn India Jobs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Company, role, seniority, skills 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Apify LinkedIn scraper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apify.com → LinkedIn Jobs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NPTEL Catalog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2,400+ courses 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subject, IIT institution, duration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nptel.ac.in (scrapeable)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SWAYAM Courses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2,000+ free courses, 56M+ enrollments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swayam.gov.in (scrapeable)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WEF Future of Jobs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India displacement forecasts by role category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weforum.org — free PDF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Chatbot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5 Question Types Required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will test this live. It must use the worker's actual profile + Layer 1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20040" y="1097280"/>
            <a:ext cx="8503920" cy="22860"/>
          </a:xfrm>
          <a:prstGeom prst="rect">
            <a:avLst/>
          </a:prstGeom>
          <a:solidFill>
            <a:srgbClr val="0A7570"/>
          </a:solidFill>
          <a:ln cap="flat" cmpd="sng" w="12700">
            <a:solidFill>
              <a:srgbClr val="0A7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320040" y="1234440"/>
            <a:ext cx="4160520" cy="822960"/>
          </a:xfrm>
          <a:prstGeom prst="rect">
            <a:avLst/>
          </a:prstGeom>
          <a:solidFill>
            <a:srgbClr val="1A2535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320040" y="1234440"/>
            <a:ext cx="50292" cy="8229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448056" y="1298448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850392" y="1298448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1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"Why is my risk score so high?"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448056" y="1636776"/>
            <a:ext cx="3941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Must cite specific Layer 1 signals </a:t>
            </a:r>
            <a:r>
              <a:rPr lang="en-US" sz="9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hiring decline %, AI tool mention rate </a:t>
            </a:r>
            <a:r>
              <a:rPr lang="en-US" sz="9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from the worker's city and role.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20040" y="2148840"/>
            <a:ext cx="4160520" cy="822960"/>
          </a:xfrm>
          <a:prstGeom prst="rect">
            <a:avLst/>
          </a:prstGeom>
          <a:solidFill>
            <a:srgbClr val="1A2535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320040" y="2148840"/>
            <a:ext cx="50292" cy="82296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448056" y="2212848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50392" y="2212848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1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"What jobs are safer for someone like me?"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48056" y="2551176"/>
            <a:ext cx="3941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Must query Layer 1 Vulnerability Index and return low-score roles that are actively hiring in the worker's city.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320040" y="3063240"/>
            <a:ext cx="4160520" cy="822960"/>
          </a:xfrm>
          <a:prstGeom prst="rect">
            <a:avLst/>
          </a:prstGeom>
          <a:solidFill>
            <a:srgbClr val="1A2535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320040" y="3063240"/>
            <a:ext cx="50292" cy="8229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448056" y="3127248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850392" y="3127248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1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"Show me paths that take less than 3 months"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48056" y="3465576"/>
            <a:ext cx="3941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Must regenerate paths with a time constraint, still validating target roles against live Layer 1 data.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645152" y="1234440"/>
            <a:ext cx="4160520" cy="822960"/>
          </a:xfrm>
          <a:prstGeom prst="rect">
            <a:avLst/>
          </a:prstGeom>
          <a:solidFill>
            <a:srgbClr val="1A2535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4645152" y="1234440"/>
            <a:ext cx="50292" cy="8229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4773168" y="1298448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5175504" y="1298448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1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"How many BPO jobs are in Indore right now?"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773168" y="1636776"/>
            <a:ext cx="3941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Must query live Layer 1 data. Must return a real number from the pipeline, not a hallucinated answer.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645152" y="2148840"/>
            <a:ext cx="4160520" cy="822960"/>
          </a:xfrm>
          <a:prstGeom prst="rect">
            <a:avLst/>
          </a:prstGeom>
          <a:solidFill>
            <a:srgbClr val="1A2535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4645152" y="2148840"/>
            <a:ext cx="50292" cy="82296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4773168" y="2212848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5175504" y="2212848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1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"मुझे क्या करना चाहिए?"  (Hindi)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773168" y="2551176"/>
            <a:ext cx="3941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Full Hindi support — input in Hindi, response in Hindi, context-aware to the worker's profile and risk score.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2535"/>
          </a:solidFill>
          <a:ln cap="flat" cmpd="sng" w="12700">
            <a:solidFill>
              <a:srgbClr val="1A2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320040" y="486918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Layer 2 — Chatbot Requirements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0" y="4869180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devxlabs.ai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502920" y="402336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Calibri"/>
              <a:buNone/>
            </a:pPr>
            <a:r>
              <a:rPr b="1" lang="en-US" sz="21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WHAT WINNING LOOKS LIKE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502920" y="9784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team that builds a scraper + chatbot without the intelligence layer will score in the bottom third.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274320" y="4818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devx labs  ·  Hackathon 2026  ·  Winning Criteria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315200" y="4818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devxlabs.ai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02920" y="1463040"/>
            <a:ext cx="39776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502920" y="1463040"/>
            <a:ext cx="45720" cy="1188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157276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>
            <a:off x="1005840" y="1581912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1. Live dashboard with real signal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30936" y="1938528"/>
            <a:ext cx="37307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Refresh during demo. Show a specific data-backed finding: 'BPO voice in Pune fell 22% in 30 days, AI call-handling +40%.' Methodology visible on screen.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502920" y="2852928"/>
            <a:ext cx="39776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502920" y="2852928"/>
            <a:ext cx="45720" cy="1188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296265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/>
          <p:nvPr/>
        </p:nvSpPr>
        <p:spPr>
          <a:xfrm>
            <a:off x="1005840" y="297180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2. Risk score that reacts to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630936" y="3328416"/>
            <a:ext cx="37307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Enter a profile → score in seconds. Change a Layer 1 parameter → score updates live. Pre-computed scores that never change will not pass.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4663440" y="1463040"/>
            <a:ext cx="39776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4663440" y="1463040"/>
            <a:ext cx="45720" cy="1188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1456" y="157276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/>
          <p:nvPr/>
        </p:nvSpPr>
        <p:spPr>
          <a:xfrm>
            <a:off x="5166360" y="1581912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3. A reskilling path that is specific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4791456" y="1938528"/>
            <a:ext cx="37307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Real course links. Week-by-week schedule. Target role verified as actively hiring in that city from L1 data. 'Learn Python' is not a path.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4663440" y="2852928"/>
            <a:ext cx="39776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4663440" y="2852928"/>
            <a:ext cx="45720" cy="1188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1456" y="296265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2"/>
          <p:cNvSpPr/>
          <p:nvPr/>
        </p:nvSpPr>
        <p:spPr>
          <a:xfrm>
            <a:off x="5166360" y="297180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4. Chatbot that understands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4791456" y="3328416"/>
            <a:ext cx="37307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Judges ask 3 live questions using the worker's actual profile + L1 data. Show at least one exchange in Hindi. Generic LLM responses = zero score.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274320" y="4818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devx labs  ·  Hackathon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7315200" y="4818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devxlabs.ai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OPTIONAL CHALLENGES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Bonus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502920" y="111556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Functional bonus features earn extra Demo Conviction points.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502920" y="1508760"/>
            <a:ext cx="3794760" cy="16916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502920" y="1508760"/>
            <a:ext cx="45720" cy="169164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727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3"/>
          <p:cNvSpPr/>
          <p:nvPr/>
        </p:nvSpPr>
        <p:spPr>
          <a:xfrm>
            <a:off x="969264" y="1591056"/>
            <a:ext cx="3154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Displacement Early Warning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640080" y="1920240"/>
            <a:ext cx="354787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 watchlist in Layer 1 that flags job categories where hiring is declining fast enough to warrant proactive outreach — before layoffs begin. Workers in at-risk roles get notified to start reskilling now, not after the fact.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4846320" y="1508760"/>
            <a:ext cx="3794760" cy="16916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4846320" y="1508760"/>
            <a:ext cx="45720" cy="169164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5727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3"/>
          <p:cNvSpPr/>
          <p:nvPr/>
        </p:nvSpPr>
        <p:spPr>
          <a:xfrm>
            <a:off x="5312664" y="1591056"/>
            <a:ext cx="3154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Employer-Side 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4983480" y="1920240"/>
            <a:ext cx="354787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Flip the tool: show companies the supply/demand gap — what skills exist in a city vs. what that sector is actually hiring for. Not just 'help workers' but 'show employers where the talent pipeline is breaking'.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502920" y="3337560"/>
            <a:ext cx="8138160" cy="1024128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45643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3"/>
          <p:cNvSpPr/>
          <p:nvPr/>
        </p:nvSpPr>
        <p:spPr>
          <a:xfrm>
            <a:off x="1078992" y="3401568"/>
            <a:ext cx="7406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Bonus features must be functional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274320" y="4818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devx labs  ·  Hackathon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7315200" y="48188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devxlabs.ai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SCORING RUBRIC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You'll Be Judged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502920" y="1508760"/>
            <a:ext cx="8229600" cy="47548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502920" y="1508760"/>
            <a:ext cx="36576" cy="47548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594360" y="1591056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1316736" y="155448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Technical complexity &amp; architecture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1316736" y="1783080"/>
            <a:ext cx="7223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All what tech and AI integrations is carried?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4572000" y="1636776"/>
            <a:ext cx="3840480" cy="201168"/>
          </a:xfrm>
          <a:prstGeom prst="rect">
            <a:avLst/>
          </a:prstGeom>
          <a:solidFill>
            <a:srgbClr val="1A2A2A"/>
          </a:solidFill>
          <a:ln cap="flat" cmpd="sng" w="12700">
            <a:solidFill>
              <a:srgbClr val="1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4572000" y="1636776"/>
            <a:ext cx="960120" cy="2011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502920" y="2057400"/>
            <a:ext cx="8229600" cy="47548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502920" y="2057400"/>
            <a:ext cx="36576" cy="47548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594360" y="2139696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1316736" y="210312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depth &amp; real-world applicability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316736" y="2331720"/>
            <a:ext cx="7223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How much depth is thought and implemented to make it super relatable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572000" y="2185416"/>
            <a:ext cx="3840480" cy="201168"/>
          </a:xfrm>
          <a:prstGeom prst="rect">
            <a:avLst/>
          </a:prstGeom>
          <a:solidFill>
            <a:srgbClr val="1A2A2A"/>
          </a:solidFill>
          <a:ln cap="flat" cmpd="sng" w="12700">
            <a:solidFill>
              <a:srgbClr val="1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4572000" y="2185416"/>
            <a:ext cx="768096" cy="2011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502920" y="2606040"/>
            <a:ext cx="8229600" cy="47548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502920" y="2606040"/>
            <a:ext cx="36576" cy="47548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594360" y="2688336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1316736" y="265176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Reskilling Path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1316736" y="2880360"/>
            <a:ext cx="7223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City-matched, week-by-week, real resources? Write-up demonstrably influences the path?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4572000" y="2734056"/>
            <a:ext cx="3840480" cy="201168"/>
          </a:xfrm>
          <a:prstGeom prst="rect">
            <a:avLst/>
          </a:prstGeom>
          <a:solidFill>
            <a:srgbClr val="1A2A2A"/>
          </a:solidFill>
          <a:ln cap="flat" cmpd="sng" w="12700">
            <a:solidFill>
              <a:srgbClr val="1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4572000" y="2734056"/>
            <a:ext cx="768096" cy="2011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502920" y="3154680"/>
            <a:ext cx="8229600" cy="47548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502920" y="3154680"/>
            <a:ext cx="36576" cy="475488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594360" y="3236976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1316736" y="320040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1316736" y="3429000"/>
            <a:ext cx="7223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question types?Context-aware? Works in Hindi </a:t>
            </a: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w/o</a:t>
            </a: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switching to Eng?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4572000" y="3282696"/>
            <a:ext cx="3840480" cy="201168"/>
          </a:xfrm>
          <a:prstGeom prst="rect">
            <a:avLst/>
          </a:prstGeom>
          <a:solidFill>
            <a:srgbClr val="1A2A2A"/>
          </a:solidFill>
          <a:ln cap="flat" cmpd="sng" w="12700">
            <a:solidFill>
              <a:srgbClr val="1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4572000" y="3282696"/>
            <a:ext cx="576072" cy="201168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502920" y="3703320"/>
            <a:ext cx="8229600" cy="47548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502920" y="3703320"/>
            <a:ext cx="36576" cy="475488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/>
          <p:nvPr/>
        </p:nvSpPr>
        <p:spPr>
          <a:xfrm>
            <a:off x="594360" y="3785616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1316736" y="374904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1316736" y="3977640"/>
            <a:ext cx="7223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L1 changes propagate to L2 live? Feedback loop visible during demo?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572000" y="3831336"/>
            <a:ext cx="3840480" cy="201168"/>
          </a:xfrm>
          <a:prstGeom prst="rect">
            <a:avLst/>
          </a:prstGeom>
          <a:solidFill>
            <a:srgbClr val="1A2A2A"/>
          </a:solidFill>
          <a:ln cap="flat" cmpd="sng" w="12700">
            <a:solidFill>
              <a:srgbClr val="1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4572000" y="3831336"/>
            <a:ext cx="384048" cy="201168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502920" y="4251960"/>
            <a:ext cx="8229600" cy="47548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502920" y="4251960"/>
            <a:ext cx="36576" cy="475488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594360" y="4334256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1316736" y="429768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Layer 1 Live Signal Quality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1316736" y="4526280"/>
            <a:ext cx="7223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Running on real data? Vulnerability Index data-derived with visible methodology?</a:t>
            </a:r>
            <a:endParaRPr sz="9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4572000" y="4379976"/>
            <a:ext cx="3840480" cy="201168"/>
          </a:xfrm>
          <a:prstGeom prst="rect">
            <a:avLst/>
          </a:prstGeom>
          <a:solidFill>
            <a:srgbClr val="1A2A2A"/>
          </a:solidFill>
          <a:ln cap="flat" cmpd="sng" w="12700">
            <a:solidFill>
              <a:srgbClr val="1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4572000" y="4379976"/>
            <a:ext cx="384048" cy="201168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320040" y="502920"/>
            <a:ext cx="8503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48 hours.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320040" y="160020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Build something India's 50 crore workers actually need.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320040" y="2240280"/>
            <a:ext cx="8458200" cy="1828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20040" y="2240280"/>
            <a:ext cx="45720" cy="1828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457200" y="2304288"/>
            <a:ext cx="82296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Layer 1: Live dashboard — Naukri + LinkedIn scrape → Hiring Trends + Skills Intel + AI Vulnerability Index (0–100)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Layer 2: Worker profile (title + city + XP + write-up) → Personal Risk Score + Week-by-week Reskilling Path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AI Chatbot: context-aware, 5 question types, works in English and Hindi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5E7E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Both layers must talk to each other — live, during the demo. No static pipelines.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320040" y="405079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Build the real thing. Good luck.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320040" y="451713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devxlabs.ai  ·  Questions: </a:t>
            </a:r>
            <a:r>
              <a:rPr lang="en-US" sz="10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abhishek.rawal</a:t>
            </a: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@devxlabs.ai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